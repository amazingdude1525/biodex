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38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69CE0-5C57-4E91-B09B-62C7607E6B7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8808D-B770-45D8-B484-FC526BCE2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5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8808D-B770-45D8-B484-FC526BCE243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5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3933" y="2694198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4028629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505" y="5243019"/>
            <a:ext cx="3416350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6919947"/>
            <a:ext cx="4230588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227B2-65BF-7947-5A12-CD114B01CA67}"/>
              </a:ext>
            </a:extLst>
          </p:cNvPr>
          <p:cNvSpPr txBox="1"/>
          <p:nvPr/>
        </p:nvSpPr>
        <p:spPr>
          <a:xfrm>
            <a:off x="4716544" y="3559558"/>
            <a:ext cx="92251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BioDex</a:t>
            </a:r>
            <a:r>
              <a:rPr lang="en-US" sz="4000" b="1" dirty="0">
                <a:solidFill>
                  <a:schemeClr val="bg1"/>
                </a:solidFill>
              </a:rPr>
              <a:t> - Gamified Urban Wildlife Tracker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Under </a:t>
            </a:r>
            <a:r>
              <a:rPr lang="en-IN" sz="2000" dirty="0">
                <a:solidFill>
                  <a:schemeClr val="bg1"/>
                </a:solidFill>
              </a:rPr>
              <a:t>Wildlife Sighting Reporter </a:t>
            </a:r>
            <a:r>
              <a:rPr lang="en-IN" sz="2000" b="1" dirty="0">
                <a:solidFill>
                  <a:schemeClr val="bg1"/>
                </a:solidFill>
              </a:rPr>
              <a:t>Problem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b="1" dirty="0">
                <a:solidFill>
                  <a:schemeClr val="bg1"/>
                </a:solidFill>
              </a:rPr>
              <a:t>ID: </a:t>
            </a:r>
            <a:r>
              <a:rPr lang="en-IN" sz="2000" dirty="0">
                <a:solidFill>
                  <a:schemeClr val="bg1"/>
                </a:solidFill>
              </a:rPr>
              <a:t>HM44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E6004-E15D-C25C-A0D1-EE77B99A8AC1}"/>
              </a:ext>
            </a:extLst>
          </p:cNvPr>
          <p:cNvSpPr txBox="1"/>
          <p:nvPr/>
        </p:nvSpPr>
        <p:spPr>
          <a:xfrm>
            <a:off x="4716544" y="5264734"/>
            <a:ext cx="9225116" cy="646331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Debug Duo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F515B-5328-90F5-16DF-33D8257F2661}"/>
              </a:ext>
            </a:extLst>
          </p:cNvPr>
          <p:cNvSpPr txBox="1"/>
          <p:nvPr/>
        </p:nvSpPr>
        <p:spPr>
          <a:xfrm>
            <a:off x="4758437" y="6927224"/>
            <a:ext cx="110075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Prateek Das</a:t>
            </a:r>
            <a:r>
              <a:rPr lang="en-IN" sz="4000" b="1" spc="300" dirty="0">
                <a:solidFill>
                  <a:schemeClr val="bg1"/>
                </a:solidFill>
              </a:rPr>
              <a:t>                             </a:t>
            </a:r>
            <a:r>
              <a:rPr lang="en-IN" sz="4000" b="1" dirty="0">
                <a:solidFill>
                  <a:schemeClr val="bg1"/>
                </a:solidFill>
              </a:rPr>
              <a:t> ID:25BCE10599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Kumari Shikha Kushwaha               ID:25BCE11243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529" y="3196733"/>
            <a:ext cx="529113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8781" y="5057775"/>
            <a:ext cx="594372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7201" y="6937260"/>
            <a:ext cx="579895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699" y="2609476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3B429-7498-5162-7AE1-4D1D28F07A8E}"/>
              </a:ext>
            </a:extLst>
          </p:cNvPr>
          <p:cNvSpPr txBox="1"/>
          <p:nvPr/>
        </p:nvSpPr>
        <p:spPr>
          <a:xfrm>
            <a:off x="7022510" y="3216115"/>
            <a:ext cx="92282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Urban biodiversity data is incredibly scarce because everyday citizens lack a simple, structured, and engaging way to contribute local wildlife observations.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1664E3-51DA-F19C-4771-4DF61700FBAD}"/>
              </a:ext>
            </a:extLst>
          </p:cNvPr>
          <p:cNvSpPr txBox="1"/>
          <p:nvPr/>
        </p:nvSpPr>
        <p:spPr>
          <a:xfrm>
            <a:off x="7022510" y="5127333"/>
            <a:ext cx="92282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Environmental researchers tracking urban ecosystems, and local communities disconnected from their surrounding wildlife.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FA36E-6F45-038A-4D6C-2CD06B916C96}"/>
              </a:ext>
            </a:extLst>
          </p:cNvPr>
          <p:cNvSpPr txBox="1"/>
          <p:nvPr/>
        </p:nvSpPr>
        <p:spPr>
          <a:xfrm>
            <a:off x="7022510" y="6968993"/>
            <a:ext cx="92282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Without crowdsourced data, it is impossible to monitor species decline, invasive species spread, or the general ecological health of our immediate urban environments.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2" y="2920597"/>
            <a:ext cx="556036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0922" y="4800917"/>
            <a:ext cx="4660106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0922" y="6676708"/>
            <a:ext cx="689907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81391-91C0-D866-51EF-41B07B23630B}"/>
              </a:ext>
            </a:extLst>
          </p:cNvPr>
          <p:cNvSpPr txBox="1"/>
          <p:nvPr/>
        </p:nvSpPr>
        <p:spPr>
          <a:xfrm>
            <a:off x="7242451" y="2960283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Complex academic portals (like eBird) and unstructured posts in local community WhatsApp/Facebook groups.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8412F-C0E9-616E-BE97-1EA370D5AFE3}"/>
              </a:ext>
            </a:extLst>
          </p:cNvPr>
          <p:cNvSpPr txBox="1"/>
          <p:nvPr/>
        </p:nvSpPr>
        <p:spPr>
          <a:xfrm>
            <a:off x="7242451" y="4800917"/>
            <a:ext cx="99740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Academic tools have steep learning curves that deter casual users. Social media posts lack standardized GPS tagging and searchable databases.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A9805-84B8-DC53-E500-3FC34B18E308}"/>
              </a:ext>
            </a:extLst>
          </p:cNvPr>
          <p:cNvSpPr txBox="1"/>
          <p:nvPr/>
        </p:nvSpPr>
        <p:spPr>
          <a:xfrm>
            <a:off x="7242451" y="6706646"/>
            <a:ext cx="105029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BioDex</a:t>
            </a:r>
            <a:r>
              <a:rPr lang="en-US" sz="2800" dirty="0">
                <a:solidFill>
                  <a:schemeClr val="bg1"/>
                </a:solidFill>
              </a:rPr>
              <a:t> bridges the gap by turning ecological data collection into an engaging, gamified experience for the everyday citizen, automatically capturing standard GPS and timestamp data without extra effort.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1" y="3087020"/>
            <a:ext cx="532342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042" y="5013553"/>
            <a:ext cx="429535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120" y="6940085"/>
            <a:ext cx="5812036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D3BF2-C7C9-B0BA-B48E-57CEC5138B05}"/>
              </a:ext>
            </a:extLst>
          </p:cNvPr>
          <p:cNvSpPr txBox="1"/>
          <p:nvPr/>
        </p:nvSpPr>
        <p:spPr>
          <a:xfrm>
            <a:off x="6750444" y="3104706"/>
            <a:ext cx="113605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mobile-responsive web app where users photograph local wildlife, log it with automatic GPS coordinates, and view community sightings on an interactive map.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B083B-522F-8333-DF3F-AE3207A50384}"/>
              </a:ext>
            </a:extLst>
          </p:cNvPr>
          <p:cNvSpPr txBox="1"/>
          <p:nvPr/>
        </p:nvSpPr>
        <p:spPr>
          <a:xfrm>
            <a:off x="6750444" y="5018768"/>
            <a:ext cx="106289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photo-first sighting submission form, an interactive real-time community map, and a gamified "Species Explorer" badge system, secure user authentication.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4DF2F-6450-F09F-F603-BEFA45095C61}"/>
              </a:ext>
            </a:extLst>
          </p:cNvPr>
          <p:cNvSpPr txBox="1"/>
          <p:nvPr/>
        </p:nvSpPr>
        <p:spPr>
          <a:xfrm>
            <a:off x="6750444" y="7062471"/>
            <a:ext cx="106289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It removes the friction of data entry and introduces a "collect-them-all" motivation, seamlessly generating rich, localized biodiversity data.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2" y="1930822"/>
            <a:ext cx="5171777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6972" y="6608106"/>
            <a:ext cx="10598944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(Frontend, Backend, Database, APIs)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6972" y="8590650"/>
            <a:ext cx="4464695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31D90-058E-8F64-7FD0-860FE31DC277}"/>
              </a:ext>
            </a:extLst>
          </p:cNvPr>
          <p:cNvSpPr txBox="1"/>
          <p:nvPr/>
        </p:nvSpPr>
        <p:spPr>
          <a:xfrm>
            <a:off x="7213381" y="6660748"/>
            <a:ext cx="121215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Frontend: </a:t>
            </a:r>
            <a:r>
              <a:rPr lang="en-US" sz="2400" dirty="0">
                <a:solidFill>
                  <a:schemeClr val="bg1"/>
                </a:solidFill>
              </a:rPr>
              <a:t>React.js &amp; Clerk Auth SDK (Handles User Sign-in &amp; Session Management)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Backend: Node.js / Express.js with Clerk Middleware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Database: PostgreSQL via Neon Tech (Relational Data) &amp; </a:t>
            </a:r>
            <a:r>
              <a:rPr lang="en-IN" sz="2400" dirty="0" err="1">
                <a:solidFill>
                  <a:schemeClr val="bg1"/>
                </a:solidFill>
              </a:rPr>
              <a:t>Cloudinary</a:t>
            </a:r>
            <a:r>
              <a:rPr lang="en-IN" sz="2400" dirty="0">
                <a:solidFill>
                  <a:schemeClr val="bg1"/>
                </a:solidFill>
              </a:rPr>
              <a:t> (Image Storage)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APIs: HTML5 Geolocation API, Leaflet.js , Gemini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F99E7-3932-7957-FB98-46F5252162E7}"/>
              </a:ext>
            </a:extLst>
          </p:cNvPr>
          <p:cNvSpPr txBox="1"/>
          <p:nvPr/>
        </p:nvSpPr>
        <p:spPr>
          <a:xfrm>
            <a:off x="4948619" y="8590650"/>
            <a:ext cx="110300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React client captures location and photo -&gt; Photo goes to </a:t>
            </a:r>
            <a:r>
              <a:rPr lang="en-US" sz="2400" dirty="0" err="1">
                <a:solidFill>
                  <a:schemeClr val="bg1"/>
                </a:solidFill>
              </a:rPr>
              <a:t>Cloudinary</a:t>
            </a:r>
            <a:r>
              <a:rPr lang="en-US" sz="2400" dirty="0">
                <a:solidFill>
                  <a:schemeClr val="bg1"/>
                </a:solidFill>
              </a:rPr>
              <a:t> -&gt; Backend receives Image URL + GPS data -&gt; Saves to Neon Postgres Database -&gt; Pushes data back to update the Leaflet map.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9E8791-6FB9-0576-E2DB-3D67ED17F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799" y="1851758"/>
            <a:ext cx="11397343" cy="4756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03" y="2828140"/>
            <a:ext cx="4860875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78" y="4692252"/>
            <a:ext cx="5573762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3" y="6556363"/>
            <a:ext cx="421555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proper flowchart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66201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28FDBF-9E21-98AB-9A02-4AB121D4E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3160" y="1868017"/>
            <a:ext cx="4829175" cy="836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94513" y="377531"/>
            <a:ext cx="3698974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2957580"/>
            <a:ext cx="4090690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231" y="4800917"/>
            <a:ext cx="40135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155" y="6612503"/>
            <a:ext cx="2556507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156" y="8495348"/>
            <a:ext cx="10072539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"/>
                <a:cs typeface="Times New Roman Bold"/>
                <a:sym typeface="Times New Roman Bold"/>
              </a:rPr>
              <a:t>     </a:t>
            </a:r>
            <a:r>
              <a:rPr lang="en-US" sz="3399" spc="-2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66468" y="2422732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432F6B-D982-FA0E-6402-FBE7A2B4EAE1}"/>
              </a:ext>
            </a:extLst>
          </p:cNvPr>
          <p:cNvSpPr txBox="1"/>
          <p:nvPr/>
        </p:nvSpPr>
        <p:spPr>
          <a:xfrm>
            <a:off x="4528849" y="3037470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React (Vite) and Tailwind CSS - For rapid, responsive mobile-first UI development.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58B0D3-BA74-6CF3-7FB6-C22989C03EB6}"/>
              </a:ext>
            </a:extLst>
          </p:cNvPr>
          <p:cNvSpPr txBox="1"/>
          <p:nvPr/>
        </p:nvSpPr>
        <p:spPr>
          <a:xfrm>
            <a:off x="4528849" y="4876056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Node.js with Express (Hosted on Railway) - For robust REST API creation and fast CI/CD deployment.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E18F72-EA34-97BB-264B-D9F1029F4CB5}"/>
              </a:ext>
            </a:extLst>
          </p:cNvPr>
          <p:cNvSpPr txBox="1"/>
          <p:nvPr/>
        </p:nvSpPr>
        <p:spPr>
          <a:xfrm>
            <a:off x="4528849" y="6616629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Neon Tech (Serverless PostgreSQL) for sighting data, and </a:t>
            </a:r>
            <a:r>
              <a:rPr lang="en-US" sz="2800" dirty="0" err="1">
                <a:solidFill>
                  <a:schemeClr val="bg1"/>
                </a:solidFill>
              </a:rPr>
              <a:t>Cloudinary</a:t>
            </a:r>
            <a:r>
              <a:rPr lang="en-US" sz="2800" dirty="0">
                <a:solidFill>
                  <a:schemeClr val="bg1"/>
                </a:solidFill>
              </a:rPr>
              <a:t> for wildlife image storage.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B2055-CDDC-88C5-7B4C-097C8773C524}"/>
              </a:ext>
            </a:extLst>
          </p:cNvPr>
          <p:cNvSpPr txBox="1"/>
          <p:nvPr/>
        </p:nvSpPr>
        <p:spPr>
          <a:xfrm>
            <a:off x="7662242" y="8248664"/>
            <a:ext cx="115420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Leaflet.js: Lightweight, open-source mapping without requiring API keys.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Clerk </a:t>
            </a:r>
            <a:r>
              <a:rPr lang="en-US" sz="2400" dirty="0" err="1">
                <a:solidFill>
                  <a:schemeClr val="bg1"/>
                </a:solidFill>
              </a:rPr>
              <a:t>Authentication,Gemini</a:t>
            </a:r>
            <a:r>
              <a:rPr lang="en-US" sz="2400" dirty="0">
                <a:solidFill>
                  <a:schemeClr val="bg1"/>
                </a:solidFill>
              </a:rPr>
              <a:t> API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HTML5 Geolocation API: Native browser support to easily capture accurate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coordinates.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0032" y="376633"/>
            <a:ext cx="700400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274" y="3271934"/>
            <a:ext cx="541808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199" y="5181945"/>
            <a:ext cx="532045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199" y="7091955"/>
            <a:ext cx="449969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Timeline (if applicable)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466675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C5728-DE32-7B37-750C-DB368575A9FC}"/>
              </a:ext>
            </a:extLst>
          </p:cNvPr>
          <p:cNvSpPr txBox="1"/>
          <p:nvPr/>
        </p:nvSpPr>
        <p:spPr>
          <a:xfrm>
            <a:off x="6434362" y="3361087"/>
            <a:ext cx="92282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arenR"/>
            </a:pPr>
            <a:r>
              <a:rPr lang="en-US" sz="2400" dirty="0">
                <a:solidFill>
                  <a:schemeClr val="bg1"/>
                </a:solidFill>
              </a:rPr>
              <a:t>Scaffold UI and initialize Map. </a:t>
            </a:r>
          </a:p>
          <a:p>
            <a:pPr marL="514350" indent="-514350">
              <a:buAutoNum type="arabicParenR"/>
            </a:pPr>
            <a:r>
              <a:rPr lang="en-US" sz="2400" dirty="0">
                <a:solidFill>
                  <a:schemeClr val="bg1"/>
                </a:solidFill>
              </a:rPr>
              <a:t>Build photo upload and GPS capture logic.</a:t>
            </a:r>
          </a:p>
          <a:p>
            <a:pPr marL="514350" indent="-514350">
              <a:buAutoNum type="arabicParenR"/>
            </a:pPr>
            <a:r>
              <a:rPr lang="en-US" sz="2400" dirty="0">
                <a:solidFill>
                  <a:schemeClr val="bg1"/>
                </a:solidFill>
              </a:rPr>
              <a:t>Configure Clerk Auth &amp; Middleware </a:t>
            </a:r>
          </a:p>
          <a:p>
            <a:pPr marL="514350" indent="-514350">
              <a:buAutoNum type="arabicParenR"/>
            </a:pPr>
            <a:r>
              <a:rPr lang="en-US" sz="2400" dirty="0">
                <a:solidFill>
                  <a:schemeClr val="bg1"/>
                </a:solidFill>
              </a:rPr>
              <a:t>Render dynamic pins on the map.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AFAE5-A889-7EAC-1129-F40F501F14D6}"/>
              </a:ext>
            </a:extLst>
          </p:cNvPr>
          <p:cNvSpPr txBox="1"/>
          <p:nvPr/>
        </p:nvSpPr>
        <p:spPr>
          <a:xfrm>
            <a:off x="6434362" y="5248851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Interactive Map View, Sighting Submission Form, Gamification/Badge Engine.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B1FAF9-8630-A5E5-C83E-D6AAE5462A89}"/>
              </a:ext>
            </a:extLst>
          </p:cNvPr>
          <p:cNvSpPr txBox="1"/>
          <p:nvPr/>
        </p:nvSpPr>
        <p:spPr>
          <a:xfrm>
            <a:off x="6434362" y="6783454"/>
            <a:ext cx="92282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1"/>
                </a:solidFill>
              </a:rPr>
              <a:t>9:30 AM - 12:30 PM: </a:t>
            </a:r>
            <a:r>
              <a:rPr lang="en-US" sz="2800" dirty="0">
                <a:solidFill>
                  <a:schemeClr val="bg1"/>
                </a:solidFill>
              </a:rPr>
              <a:t>Core React UI, Map setup, and Clerk Provider Integration.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1"/>
                </a:solidFill>
              </a:rPr>
              <a:t>12:30 PM - 3:30 PM: Form logic &amp; Geolocation API.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1"/>
                </a:solidFill>
              </a:rPr>
              <a:t>3:30 PM - 5:30 PM: Styling and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96553" y="377591"/>
            <a:ext cx="882774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3081217"/>
            <a:ext cx="5259586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778" y="5057775"/>
            <a:ext cx="375396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2" y="7038340"/>
            <a:ext cx="3744439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4728" y="2269929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CC9DB-23A5-A700-60A6-2BA374E4E415}"/>
              </a:ext>
            </a:extLst>
          </p:cNvPr>
          <p:cNvSpPr txBox="1"/>
          <p:nvPr/>
        </p:nvSpPr>
        <p:spPr>
          <a:xfrm>
            <a:off x="5481937" y="3092914"/>
            <a:ext cx="92282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functional prototype featuring an interactive map populated with wildlife pins and a working submission form capturing real location data.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BC1B1-FFF1-8DCF-5442-113D293820F3}"/>
              </a:ext>
            </a:extLst>
          </p:cNvPr>
          <p:cNvSpPr txBox="1"/>
          <p:nvPr/>
        </p:nvSpPr>
        <p:spPr>
          <a:xfrm>
            <a:off x="5481937" y="5104754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Citizens get a fun, engaging way to interact with nature, learn about local species, and earn digital rewards.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0834D-B493-D93A-DF71-1EF43D8C8B51}"/>
              </a:ext>
            </a:extLst>
          </p:cNvPr>
          <p:cNvSpPr txBox="1"/>
          <p:nvPr/>
        </p:nvSpPr>
        <p:spPr>
          <a:xfrm>
            <a:off x="5481937" y="7125095"/>
            <a:ext cx="112869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Creates a valuable, crowdsourced dataset of urban biodiversity that can be exported for environmental research and local conservation planning.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3173674"/>
            <a:ext cx="458502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02" y="6909834"/>
            <a:ext cx="473258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3" y="5041754"/>
            <a:ext cx="360234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68236-BA60-30EB-8C14-3D79F8DF32D9}"/>
              </a:ext>
            </a:extLst>
          </p:cNvPr>
          <p:cNvSpPr txBox="1"/>
          <p:nvPr/>
        </p:nvSpPr>
        <p:spPr>
          <a:xfrm>
            <a:off x="6017228" y="3260429"/>
            <a:ext cx="922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Integrating an AI Vision model to automatically identify the animal in the uploaded photo, reducing user entry error.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F3D5A3-3E37-2226-CB2C-E74AB6E182C7}"/>
              </a:ext>
            </a:extLst>
          </p:cNvPr>
          <p:cNvSpPr txBox="1"/>
          <p:nvPr/>
        </p:nvSpPr>
        <p:spPr>
          <a:xfrm>
            <a:off x="6017228" y="5097060"/>
            <a:ext cx="109286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Expanding to a nationwide platform with regional leaderboards and partnerships with schools for environmental education.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6B2DB-1971-4B3C-51B5-ADDB3FA83199}"/>
              </a:ext>
            </a:extLst>
          </p:cNvPr>
          <p:cNvSpPr txBox="1"/>
          <p:nvPr/>
        </p:nvSpPr>
        <p:spPr>
          <a:xfrm>
            <a:off x="6017228" y="6932171"/>
            <a:ext cx="120642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BioDex</a:t>
            </a:r>
            <a:r>
              <a:rPr lang="en-US" sz="2800" dirty="0">
                <a:solidFill>
                  <a:schemeClr val="bg1"/>
                </a:solidFill>
              </a:rPr>
              <a:t> proves that by combining accessible mapping tech with gamified user experiences, we can solve the urban biodiversity data shortage one photo at a time. Expanding Clerk to include multiple social logins (GitHub, Apple) for frictionless onboarding.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817</Words>
  <Application>Microsoft Office PowerPoint</Application>
  <PresentationFormat>Custom</PresentationFormat>
  <Paragraphs>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PRATEEK DAS</dc:creator>
  <cp:lastModifiedBy>dipika anand</cp:lastModifiedBy>
  <cp:revision>5</cp:revision>
  <dcterms:modified xsi:type="dcterms:W3CDTF">2026-04-03T09:26:16Z</dcterms:modified>
</cp:coreProperties>
</file>