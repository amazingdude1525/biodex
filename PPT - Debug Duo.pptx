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defaultTextStyle>
    <a:defPPr lvl="0">
      <a:defRPr lang="en-US"/>
    </a:defPPr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850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69CE0-5C57-4E91-B09B-62C7607E6B70}" type="datetimeFigureOut">
              <a:rPr lang="en-IN" smtClean="0"/>
              <a:t>02-04-2026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B8808D-B770-45D8-B484-FC526BCE243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6351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B8808D-B770-45D8-B484-FC526BCE2432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2550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9313" b="-6931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53933" y="2694198"/>
            <a:ext cx="16230600" cy="149974"/>
            <a:chOff x="0" y="0"/>
            <a:chExt cx="4052983" cy="374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052983" cy="37450"/>
            </a:xfrm>
            <a:custGeom>
              <a:avLst/>
              <a:gdLst/>
              <a:ahLst/>
              <a:cxnLst/>
              <a:rect l="l" t="t" r="r" b="b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1">
              <a:gsLst>
                <a:gs pos="0">
                  <a:srgbClr val="FFC4E1">
                    <a:alpha val="0"/>
                  </a:srgbClr>
                </a:gs>
                <a:gs pos="25000">
                  <a:srgbClr val="C4FBFF">
                    <a:alpha val="100000"/>
                  </a:srgbClr>
                </a:gs>
                <a:gs pos="50000">
                  <a:srgbClr val="DAFCFF">
                    <a:alpha val="100000"/>
                  </a:srgbClr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052983" cy="75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633296" y="575308"/>
            <a:ext cx="2131575" cy="1004833"/>
          </a:xfrm>
          <a:custGeom>
            <a:avLst/>
            <a:gdLst/>
            <a:ahLst/>
            <a:cxnLst/>
            <a:rect l="l" t="t" r="r" b="b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978666" y="-269126"/>
            <a:ext cx="2475692" cy="2475692"/>
          </a:xfrm>
          <a:custGeom>
            <a:avLst/>
            <a:gdLst/>
            <a:ahLst/>
            <a:cxnLst/>
            <a:rect l="l" t="t" r="r" b="b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4173024" y="365758"/>
            <a:ext cx="10395942" cy="11163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59"/>
              </a:lnSpc>
              <a:spcBef>
                <a:spcPct val="0"/>
              </a:spcBef>
            </a:pPr>
            <a:r>
              <a:rPr lang="en-US" sz="5999" b="1" spc="-21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HACK MATRIX HACKATHON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363982" y="1687516"/>
            <a:ext cx="3301157" cy="866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45"/>
              </a:lnSpc>
              <a:spcBef>
                <a:spcPct val="0"/>
              </a:spcBef>
            </a:pPr>
            <a:r>
              <a:rPr lang="en-US" sz="4599" b="1" spc="-16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85956" y="3568777"/>
            <a:ext cx="4028629" cy="607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4" lvl="1" indent="-345437" algn="l">
              <a:lnSpc>
                <a:spcPts val="4831"/>
              </a:lnSpc>
              <a:spcBef>
                <a:spcPct val="0"/>
              </a:spcBef>
              <a:buFont typeface="Arial"/>
              <a:buChar char="•"/>
            </a:pPr>
            <a:r>
              <a:rPr lang="en-US" sz="3199" b="1" spc="-11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TITLE :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76505" y="5243019"/>
            <a:ext cx="3416350" cy="607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4" lvl="1" indent="-345437" algn="l">
              <a:lnSpc>
                <a:spcPts val="4831"/>
              </a:lnSpc>
              <a:spcBef>
                <a:spcPct val="0"/>
              </a:spcBef>
              <a:buFont typeface="Arial"/>
              <a:buChar char="•"/>
            </a:pPr>
            <a:r>
              <a:rPr lang="en-US" sz="3199" b="1" spc="-11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NAME :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85956" y="6919947"/>
            <a:ext cx="4230588" cy="607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4" lvl="1" indent="-345437" algn="l">
              <a:lnSpc>
                <a:spcPts val="4831"/>
              </a:lnSpc>
              <a:spcBef>
                <a:spcPct val="0"/>
              </a:spcBef>
              <a:buFont typeface="Arial"/>
              <a:buChar char="•"/>
            </a:pPr>
            <a:r>
              <a:rPr lang="en-US" sz="3199" b="1" spc="-11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MEMBERS :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E227B2-65BF-7947-5A12-CD114B01CA67}"/>
              </a:ext>
            </a:extLst>
          </p:cNvPr>
          <p:cNvSpPr txBox="1"/>
          <p:nvPr/>
        </p:nvSpPr>
        <p:spPr>
          <a:xfrm>
            <a:off x="4716544" y="3559558"/>
            <a:ext cx="92251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 err="1">
                <a:solidFill>
                  <a:schemeClr val="bg1"/>
                </a:solidFill>
              </a:rPr>
              <a:t>BioDex</a:t>
            </a:r>
            <a:r>
              <a:rPr lang="en-US" sz="4000" b="1" dirty="0">
                <a:solidFill>
                  <a:schemeClr val="bg1"/>
                </a:solidFill>
              </a:rPr>
              <a:t> - Gamified Urban Wildlife Tracker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Under </a:t>
            </a:r>
            <a:r>
              <a:rPr lang="en-IN" sz="2000" dirty="0">
                <a:solidFill>
                  <a:schemeClr val="bg1"/>
                </a:solidFill>
              </a:rPr>
              <a:t>Wildlife Sighting Reporter </a:t>
            </a:r>
            <a:r>
              <a:rPr lang="en-IN" sz="2000" b="1" dirty="0">
                <a:solidFill>
                  <a:schemeClr val="bg1"/>
                </a:solidFill>
              </a:rPr>
              <a:t>Problem</a:t>
            </a:r>
            <a:r>
              <a:rPr lang="en-IN" sz="2000" dirty="0">
                <a:solidFill>
                  <a:schemeClr val="bg1"/>
                </a:solidFill>
              </a:rPr>
              <a:t> </a:t>
            </a:r>
            <a:r>
              <a:rPr lang="en-IN" sz="2000" b="1" dirty="0">
                <a:solidFill>
                  <a:schemeClr val="bg1"/>
                </a:solidFill>
              </a:rPr>
              <a:t>ID: </a:t>
            </a:r>
            <a:r>
              <a:rPr lang="en-IN" sz="2000" dirty="0">
                <a:solidFill>
                  <a:schemeClr val="bg1"/>
                </a:solidFill>
              </a:rPr>
              <a:t>HM44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EE6004-E15D-C25C-A0D1-EE77B99A8AC1}"/>
              </a:ext>
            </a:extLst>
          </p:cNvPr>
          <p:cNvSpPr txBox="1"/>
          <p:nvPr/>
        </p:nvSpPr>
        <p:spPr>
          <a:xfrm>
            <a:off x="4716544" y="5264734"/>
            <a:ext cx="9225116" cy="646331"/>
          </a:xfrm>
          <a:prstGeom prst="rect">
            <a:avLst/>
          </a:prstGeom>
          <a:noFill/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IN" sz="3600" b="1" dirty="0">
                <a:solidFill>
                  <a:schemeClr val="bg1"/>
                </a:solidFill>
              </a:rPr>
              <a:t>Debug Duo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7F515B-5328-90F5-16DF-33D8257F2661}"/>
              </a:ext>
            </a:extLst>
          </p:cNvPr>
          <p:cNvSpPr txBox="1"/>
          <p:nvPr/>
        </p:nvSpPr>
        <p:spPr>
          <a:xfrm>
            <a:off x="4758437" y="6927224"/>
            <a:ext cx="1100758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dirty="0">
                <a:solidFill>
                  <a:schemeClr val="bg1"/>
                </a:solidFill>
              </a:rPr>
              <a:t>Prateek Das</a:t>
            </a:r>
            <a:r>
              <a:rPr lang="en-IN" sz="4000" b="1" spc="300" dirty="0">
                <a:solidFill>
                  <a:schemeClr val="bg1"/>
                </a:solidFill>
              </a:rPr>
              <a:t>                             </a:t>
            </a:r>
            <a:r>
              <a:rPr lang="en-IN" sz="4000" b="1" dirty="0">
                <a:solidFill>
                  <a:schemeClr val="bg1"/>
                </a:solidFill>
              </a:rPr>
              <a:t> ID:25BCE10599</a:t>
            </a:r>
          </a:p>
          <a:p>
            <a:r>
              <a:rPr lang="en-IN" sz="4000" b="1" dirty="0">
                <a:solidFill>
                  <a:schemeClr val="bg1"/>
                </a:solidFill>
              </a:rPr>
              <a:t>Kumari Shikha Kushwaha               ID:25BCE11243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13" b="-931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836741" y="525462"/>
            <a:ext cx="6614517" cy="882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4999" b="1" spc="-3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  STATEMENT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93529" y="3196733"/>
            <a:ext cx="5291138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Describe the problem clearly .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78781" y="5057775"/>
            <a:ext cx="5943729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Who is affected by this problem 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57201" y="6937260"/>
            <a:ext cx="5798951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Why this problem is important ?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28699" y="2609476"/>
            <a:ext cx="16230600" cy="149974"/>
            <a:chOff x="0" y="0"/>
            <a:chExt cx="4052983" cy="374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52983" cy="37450"/>
            </a:xfrm>
            <a:custGeom>
              <a:avLst/>
              <a:gdLst/>
              <a:ahLst/>
              <a:cxnLst/>
              <a:rect l="l" t="t" r="r" b="b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1">
              <a:gsLst>
                <a:gs pos="0">
                  <a:srgbClr val="FFC4E1">
                    <a:alpha val="0"/>
                  </a:srgbClr>
                </a:gs>
                <a:gs pos="25000">
                  <a:srgbClr val="C4FBFF">
                    <a:alpha val="100000"/>
                  </a:srgbClr>
                </a:gs>
                <a:gs pos="50000">
                  <a:srgbClr val="DAFCFF">
                    <a:alpha val="100000"/>
                  </a:srgbClr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052983" cy="75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633296" y="575308"/>
            <a:ext cx="2131575" cy="1004833"/>
          </a:xfrm>
          <a:custGeom>
            <a:avLst/>
            <a:gdLst/>
            <a:ahLst/>
            <a:cxnLst/>
            <a:rect l="l" t="t" r="r" b="b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5978666" y="-269126"/>
            <a:ext cx="2475692" cy="2475692"/>
          </a:xfrm>
          <a:custGeom>
            <a:avLst/>
            <a:gdLst/>
            <a:ahLst/>
            <a:cxnLst/>
            <a:rect l="l" t="t" r="r" b="b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23B429-7498-5162-7AE1-4D1D28F07A8E}"/>
              </a:ext>
            </a:extLst>
          </p:cNvPr>
          <p:cNvSpPr txBox="1"/>
          <p:nvPr/>
        </p:nvSpPr>
        <p:spPr>
          <a:xfrm>
            <a:off x="7022510" y="3216115"/>
            <a:ext cx="92282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Urban biodiversity data is incredibly scarce because everyday citizens lack a simple, structured, and engaging way to contribute local wildlife observations.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1664E3-51DA-F19C-4771-4DF61700FBAD}"/>
              </a:ext>
            </a:extLst>
          </p:cNvPr>
          <p:cNvSpPr txBox="1"/>
          <p:nvPr/>
        </p:nvSpPr>
        <p:spPr>
          <a:xfrm>
            <a:off x="7022510" y="5127333"/>
            <a:ext cx="92282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Environmental researchers tracking urban ecosystems, and local communities disconnected from their surrounding wildlife.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DFA36E-6F45-038A-4D6C-2CD06B916C96}"/>
              </a:ext>
            </a:extLst>
          </p:cNvPr>
          <p:cNvSpPr txBox="1"/>
          <p:nvPr/>
        </p:nvSpPr>
        <p:spPr>
          <a:xfrm>
            <a:off x="7022510" y="6968993"/>
            <a:ext cx="92282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Without crowdsourced data, it is impossible to monitor species decline, invasive species spread, or the general ecological health of our immediate urban environments.</a:t>
            </a:r>
            <a:endParaRPr lang="en-IN" sz="2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13" b="-931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369709" y="525462"/>
            <a:ext cx="9308753" cy="882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4999" b="1" spc="-3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EXISTING  SOLUTIONS  AND  GAPS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21872" y="2920597"/>
            <a:ext cx="5560368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List of existing Solutions  (if any)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40922" y="4800917"/>
            <a:ext cx="4660106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Mention their Limitations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40922" y="6676708"/>
            <a:ext cx="689907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Explain the gap your project will address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221872" y="1656550"/>
            <a:ext cx="16230600" cy="149974"/>
            <a:chOff x="0" y="0"/>
            <a:chExt cx="4052983" cy="374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52983" cy="37450"/>
            </a:xfrm>
            <a:custGeom>
              <a:avLst/>
              <a:gdLst/>
              <a:ahLst/>
              <a:cxnLst/>
              <a:rect l="l" t="t" r="r" b="b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1">
              <a:gsLst>
                <a:gs pos="0">
                  <a:srgbClr val="FFC4E1">
                    <a:alpha val="0"/>
                  </a:srgbClr>
                </a:gs>
                <a:gs pos="25000">
                  <a:srgbClr val="C4FBFF">
                    <a:alpha val="100000"/>
                  </a:srgbClr>
                </a:gs>
                <a:gs pos="50000">
                  <a:srgbClr val="DAFCFF">
                    <a:alpha val="100000"/>
                  </a:srgbClr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052983" cy="75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633296" y="575308"/>
            <a:ext cx="2131575" cy="1004833"/>
          </a:xfrm>
          <a:custGeom>
            <a:avLst/>
            <a:gdLst/>
            <a:ahLst/>
            <a:cxnLst/>
            <a:rect l="l" t="t" r="r" b="b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5978666" y="-269126"/>
            <a:ext cx="2475692" cy="2475692"/>
          </a:xfrm>
          <a:custGeom>
            <a:avLst/>
            <a:gdLst/>
            <a:ahLst/>
            <a:cxnLst/>
            <a:rect l="l" t="t" r="r" b="b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781391-91C0-D866-51EF-41B07B23630B}"/>
              </a:ext>
            </a:extLst>
          </p:cNvPr>
          <p:cNvSpPr txBox="1"/>
          <p:nvPr/>
        </p:nvSpPr>
        <p:spPr>
          <a:xfrm>
            <a:off x="7242451" y="2960283"/>
            <a:ext cx="9228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Complex academic portals (like eBird) and unstructured posts in local community WhatsApp/Facebook groups.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08412F-C0E9-616E-BE97-1EA370D5AFE3}"/>
              </a:ext>
            </a:extLst>
          </p:cNvPr>
          <p:cNvSpPr txBox="1"/>
          <p:nvPr/>
        </p:nvSpPr>
        <p:spPr>
          <a:xfrm>
            <a:off x="7242451" y="4800917"/>
            <a:ext cx="997406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Academic tools have steep learning curves that deter casual users. Social media posts lack standardized GPS tagging and searchable databases.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FA9805-84B8-DC53-E500-3FC34B18E308}"/>
              </a:ext>
            </a:extLst>
          </p:cNvPr>
          <p:cNvSpPr txBox="1"/>
          <p:nvPr/>
        </p:nvSpPr>
        <p:spPr>
          <a:xfrm>
            <a:off x="7242451" y="6706646"/>
            <a:ext cx="1050298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solidFill>
                  <a:schemeClr val="bg1"/>
                </a:solidFill>
              </a:rPr>
              <a:t>BioDex</a:t>
            </a:r>
            <a:r>
              <a:rPr lang="en-US" sz="2800" dirty="0">
                <a:solidFill>
                  <a:schemeClr val="bg1"/>
                </a:solidFill>
              </a:rPr>
              <a:t> bridges the gap by turning ecological data collection into an engaging, gamified experience for the everyday citizen, automatically capturing standard GPS and timestamp data without extra effort.</a:t>
            </a:r>
            <a:endParaRPr lang="en-IN" sz="2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13" b="-931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13000" y="525462"/>
            <a:ext cx="6320879" cy="882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4999" b="1" spc="-3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 SOLUTION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50041" y="3087020"/>
            <a:ext cx="5323421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Explain your solution clearly 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50042" y="5013553"/>
            <a:ext cx="4295352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List key features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86120" y="6940085"/>
            <a:ext cx="5812036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Explain how it solves the problem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28700" y="1613071"/>
            <a:ext cx="16230600" cy="149974"/>
            <a:chOff x="0" y="0"/>
            <a:chExt cx="4052983" cy="374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52983" cy="37450"/>
            </a:xfrm>
            <a:custGeom>
              <a:avLst/>
              <a:gdLst/>
              <a:ahLst/>
              <a:cxnLst/>
              <a:rect l="l" t="t" r="r" b="b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1">
              <a:gsLst>
                <a:gs pos="0">
                  <a:srgbClr val="FFC4E1">
                    <a:alpha val="0"/>
                  </a:srgbClr>
                </a:gs>
                <a:gs pos="25000">
                  <a:srgbClr val="C4FBFF">
                    <a:alpha val="100000"/>
                  </a:srgbClr>
                </a:gs>
                <a:gs pos="50000">
                  <a:srgbClr val="DAFCFF">
                    <a:alpha val="100000"/>
                  </a:srgbClr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052983" cy="75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633296" y="575308"/>
            <a:ext cx="2131575" cy="1004833"/>
          </a:xfrm>
          <a:custGeom>
            <a:avLst/>
            <a:gdLst/>
            <a:ahLst/>
            <a:cxnLst/>
            <a:rect l="l" t="t" r="r" b="b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5978666" y="-269126"/>
            <a:ext cx="2475692" cy="2475692"/>
          </a:xfrm>
          <a:custGeom>
            <a:avLst/>
            <a:gdLst/>
            <a:ahLst/>
            <a:cxnLst/>
            <a:rect l="l" t="t" r="r" b="b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1D3BF2-C7C9-B0BA-B48E-57CEC5138B05}"/>
              </a:ext>
            </a:extLst>
          </p:cNvPr>
          <p:cNvSpPr txBox="1"/>
          <p:nvPr/>
        </p:nvSpPr>
        <p:spPr>
          <a:xfrm>
            <a:off x="6750444" y="3104706"/>
            <a:ext cx="1136057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A mobile-responsive web app where users photograph local wildlife, log it with automatic GPS coordinates, and view community sightings on an interactive map.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CB083B-522F-8333-DF3F-AE3207A50384}"/>
              </a:ext>
            </a:extLst>
          </p:cNvPr>
          <p:cNvSpPr txBox="1"/>
          <p:nvPr/>
        </p:nvSpPr>
        <p:spPr>
          <a:xfrm>
            <a:off x="6750444" y="5018768"/>
            <a:ext cx="1062892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A photo-first sighting submission form, an interactive real-time community map, and a gamified "Species Explorer" badge system.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14DF2F-6450-F09F-F603-BEFA45095C61}"/>
              </a:ext>
            </a:extLst>
          </p:cNvPr>
          <p:cNvSpPr txBox="1"/>
          <p:nvPr/>
        </p:nvSpPr>
        <p:spPr>
          <a:xfrm>
            <a:off x="6750444" y="7062471"/>
            <a:ext cx="1062891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It removes the friction of data entry and introduces a "collect-them-all" motivation, seamlessly generating rich, localized biodiversity data.</a:t>
            </a:r>
            <a:endParaRPr lang="en-IN" sz="2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13" b="-931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742232" y="396022"/>
            <a:ext cx="7099399" cy="882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4999" b="1" spc="-3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SYSTEM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46972" y="1930822"/>
            <a:ext cx="5171777" cy="117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Include architecture diagram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46972" y="6608106"/>
            <a:ext cx="10598944" cy="117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Mention main components </a:t>
            </a:r>
          </a:p>
          <a:p>
            <a:pPr marL="367028" lvl="1" algn="l">
              <a:lnSpc>
                <a:spcPts val="4759"/>
              </a:lnSpc>
              <a:spcBef>
                <a:spcPct val="0"/>
              </a:spcBef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(Frontend, Backend, Database, APIs)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46972" y="8590650"/>
            <a:ext cx="4464695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Explain data flow briefly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176631" y="1549207"/>
            <a:ext cx="16230600" cy="149974"/>
            <a:chOff x="0" y="0"/>
            <a:chExt cx="4052983" cy="374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52983" cy="37450"/>
            </a:xfrm>
            <a:custGeom>
              <a:avLst/>
              <a:gdLst/>
              <a:ahLst/>
              <a:cxnLst/>
              <a:rect l="l" t="t" r="r" b="b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1">
              <a:gsLst>
                <a:gs pos="0">
                  <a:srgbClr val="FFC4E1">
                    <a:alpha val="0"/>
                  </a:srgbClr>
                </a:gs>
                <a:gs pos="25000">
                  <a:srgbClr val="C4FBFF">
                    <a:alpha val="100000"/>
                  </a:srgbClr>
                </a:gs>
                <a:gs pos="50000">
                  <a:srgbClr val="DAFCFF">
                    <a:alpha val="100000"/>
                  </a:srgbClr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052983" cy="75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633296" y="575308"/>
            <a:ext cx="2131575" cy="1004833"/>
          </a:xfrm>
          <a:custGeom>
            <a:avLst/>
            <a:gdLst/>
            <a:ahLst/>
            <a:cxnLst/>
            <a:rect l="l" t="t" r="r" b="b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5978666" y="-269126"/>
            <a:ext cx="2475692" cy="2475692"/>
          </a:xfrm>
          <a:custGeom>
            <a:avLst/>
            <a:gdLst/>
            <a:ahLst/>
            <a:cxnLst/>
            <a:rect l="l" t="t" r="r" b="b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231D90-058E-8F64-7FD0-860FE31DC277}"/>
              </a:ext>
            </a:extLst>
          </p:cNvPr>
          <p:cNvSpPr txBox="1"/>
          <p:nvPr/>
        </p:nvSpPr>
        <p:spPr>
          <a:xfrm>
            <a:off x="7213381" y="6660748"/>
            <a:ext cx="1212159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400" dirty="0">
                <a:solidFill>
                  <a:schemeClr val="bg1"/>
                </a:solidFill>
              </a:rPr>
              <a:t>Frontend: React.js (User Interface)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400" dirty="0">
                <a:solidFill>
                  <a:schemeClr val="bg1"/>
                </a:solidFill>
              </a:rPr>
              <a:t>Backend: Node.js / Express.js (Hosted on Railway)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400" dirty="0">
                <a:solidFill>
                  <a:schemeClr val="bg1"/>
                </a:solidFill>
              </a:rPr>
              <a:t>Database: PostgreSQL via Neon Tech (Relational Data) &amp; </a:t>
            </a:r>
            <a:r>
              <a:rPr lang="en-IN" sz="2400" dirty="0" err="1">
                <a:solidFill>
                  <a:schemeClr val="bg1"/>
                </a:solidFill>
              </a:rPr>
              <a:t>Cloudinary</a:t>
            </a:r>
            <a:r>
              <a:rPr lang="en-IN" sz="2400" dirty="0">
                <a:solidFill>
                  <a:schemeClr val="bg1"/>
                </a:solidFill>
              </a:rPr>
              <a:t> (Image Storage)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400" dirty="0">
                <a:solidFill>
                  <a:schemeClr val="bg1"/>
                </a:solidFill>
              </a:rPr>
              <a:t>APIs: HTML5 Geolocation API, Leaflet.js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EF99E7-3932-7957-FB98-46F5252162E7}"/>
              </a:ext>
            </a:extLst>
          </p:cNvPr>
          <p:cNvSpPr txBox="1"/>
          <p:nvPr/>
        </p:nvSpPr>
        <p:spPr>
          <a:xfrm>
            <a:off x="4948619" y="8590650"/>
            <a:ext cx="110300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The React client captures location and photo -&gt; Photo goes to </a:t>
            </a:r>
            <a:r>
              <a:rPr lang="en-US" sz="2400" dirty="0" err="1">
                <a:solidFill>
                  <a:schemeClr val="bg1"/>
                </a:solidFill>
              </a:rPr>
              <a:t>Cloudinary</a:t>
            </a:r>
            <a:r>
              <a:rPr lang="en-US" sz="2400" dirty="0">
                <a:solidFill>
                  <a:schemeClr val="bg1"/>
                </a:solidFill>
              </a:rPr>
              <a:t> -&gt; Backend receives Image URL + GPS data -&gt; Saves to Neon Postgres Database -&gt; Pushes data back to update the Leaflet map.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EC50351-7F86-B34D-7FA8-B8814A47D1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437" y="1930822"/>
            <a:ext cx="10230136" cy="4764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13" b="-931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954672" y="396022"/>
            <a:ext cx="10896416" cy="882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4999" b="1" spc="-3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FLOWCHART  /  WORKING PROCESS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1303" y="2828140"/>
            <a:ext cx="4860875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Show step-by-step working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1378" y="4692252"/>
            <a:ext cx="5573762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Include user flow or system flow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01303" y="6556363"/>
            <a:ext cx="421555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Use a proper flowchart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287580" y="1662010"/>
            <a:ext cx="16230600" cy="149974"/>
            <a:chOff x="0" y="0"/>
            <a:chExt cx="4052983" cy="374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52983" cy="37450"/>
            </a:xfrm>
            <a:custGeom>
              <a:avLst/>
              <a:gdLst/>
              <a:ahLst/>
              <a:cxnLst/>
              <a:rect l="l" t="t" r="r" b="b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1">
              <a:gsLst>
                <a:gs pos="0">
                  <a:srgbClr val="FFC4E1">
                    <a:alpha val="0"/>
                  </a:srgbClr>
                </a:gs>
                <a:gs pos="25000">
                  <a:srgbClr val="C4FBFF">
                    <a:alpha val="100000"/>
                  </a:srgbClr>
                </a:gs>
                <a:gs pos="50000">
                  <a:srgbClr val="DAFCFF">
                    <a:alpha val="100000"/>
                  </a:srgbClr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052983" cy="75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633296" y="575308"/>
            <a:ext cx="2131575" cy="1004833"/>
          </a:xfrm>
          <a:custGeom>
            <a:avLst/>
            <a:gdLst/>
            <a:ahLst/>
            <a:cxnLst/>
            <a:rect l="l" t="t" r="r" b="b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007241" y="-269126"/>
            <a:ext cx="2475692" cy="2475692"/>
          </a:xfrm>
          <a:custGeom>
            <a:avLst/>
            <a:gdLst/>
            <a:ahLst/>
            <a:cxnLst/>
            <a:rect l="l" t="t" r="r" b="b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8E0C9B-E68D-EE8C-C7D3-506E173EA8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7434" y="2099995"/>
            <a:ext cx="5796767" cy="77094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13" b="-931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294513" y="377531"/>
            <a:ext cx="3698974" cy="882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4999" b="1" spc="-3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  STACK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125156" y="2957580"/>
            <a:ext cx="4090690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Frontend technologies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5231" y="4800917"/>
            <a:ext cx="401359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Backend technologies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25155" y="6612503"/>
            <a:ext cx="2556507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Database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25156" y="8495348"/>
            <a:ext cx="10072539" cy="117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Tools and APIs used and </a:t>
            </a:r>
          </a:p>
          <a:p>
            <a:pPr marL="367028" lvl="1" algn="l">
              <a:lnSpc>
                <a:spcPts val="4759"/>
              </a:lnSpc>
              <a:spcBef>
                <a:spcPct val="0"/>
              </a:spcBef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"/>
                <a:cs typeface="Times New Roman Bold"/>
                <a:sym typeface="Times New Roman Bold"/>
              </a:rPr>
              <a:t>     </a:t>
            </a:r>
            <a:r>
              <a:rPr lang="en-US" sz="3399" spc="-27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</a:t>
            </a: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eason for choosing each (1 line each)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866468" y="2422732"/>
            <a:ext cx="16230600" cy="149974"/>
            <a:chOff x="0" y="0"/>
            <a:chExt cx="4052983" cy="374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052983" cy="37450"/>
            </a:xfrm>
            <a:custGeom>
              <a:avLst/>
              <a:gdLst/>
              <a:ahLst/>
              <a:cxnLst/>
              <a:rect l="l" t="t" r="r" b="b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1">
              <a:gsLst>
                <a:gs pos="0">
                  <a:srgbClr val="FFC4E1">
                    <a:alpha val="0"/>
                  </a:srgbClr>
                </a:gs>
                <a:gs pos="25000">
                  <a:srgbClr val="C4FBFF">
                    <a:alpha val="100000"/>
                  </a:srgbClr>
                </a:gs>
                <a:gs pos="50000">
                  <a:srgbClr val="DAFCFF">
                    <a:alpha val="100000"/>
                  </a:srgbClr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052983" cy="75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633296" y="575308"/>
            <a:ext cx="2131575" cy="1004833"/>
          </a:xfrm>
          <a:custGeom>
            <a:avLst/>
            <a:gdLst/>
            <a:ahLst/>
            <a:cxnLst/>
            <a:rect l="l" t="t" r="r" b="b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5978666" y="-269126"/>
            <a:ext cx="2475692" cy="2475692"/>
          </a:xfrm>
          <a:custGeom>
            <a:avLst/>
            <a:gdLst/>
            <a:ahLst/>
            <a:cxnLst/>
            <a:rect l="l" t="t" r="r" b="b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432F6B-D982-FA0E-6402-FBE7A2B4EAE1}"/>
              </a:ext>
            </a:extLst>
          </p:cNvPr>
          <p:cNvSpPr txBox="1"/>
          <p:nvPr/>
        </p:nvSpPr>
        <p:spPr>
          <a:xfrm>
            <a:off x="4528849" y="3037470"/>
            <a:ext cx="9228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React (Vite) and Tailwind CSS - For rapid, responsive mobile-first UI development.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58B0D3-BA74-6CF3-7FB6-C22989C03EB6}"/>
              </a:ext>
            </a:extLst>
          </p:cNvPr>
          <p:cNvSpPr txBox="1"/>
          <p:nvPr/>
        </p:nvSpPr>
        <p:spPr>
          <a:xfrm>
            <a:off x="4528849" y="4876056"/>
            <a:ext cx="9228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Node.js with Express (Hosted on Railway) - For robust REST API creation and fast CI/CD deployment.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E18F72-EA34-97BB-264B-D9F1029F4CB5}"/>
              </a:ext>
            </a:extLst>
          </p:cNvPr>
          <p:cNvSpPr txBox="1"/>
          <p:nvPr/>
        </p:nvSpPr>
        <p:spPr>
          <a:xfrm>
            <a:off x="4528849" y="6616629"/>
            <a:ext cx="9228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Neon Tech (Serverless PostgreSQL) for sighting data, and </a:t>
            </a:r>
            <a:r>
              <a:rPr lang="en-US" sz="2800" dirty="0" err="1">
                <a:solidFill>
                  <a:schemeClr val="bg1"/>
                </a:solidFill>
              </a:rPr>
              <a:t>Cloudinary</a:t>
            </a:r>
            <a:r>
              <a:rPr lang="en-US" sz="2800" dirty="0">
                <a:solidFill>
                  <a:schemeClr val="bg1"/>
                </a:solidFill>
              </a:rPr>
              <a:t> for wildlife image storage.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1B2055-CDDC-88C5-7B4C-097C8773C524}"/>
              </a:ext>
            </a:extLst>
          </p:cNvPr>
          <p:cNvSpPr txBox="1"/>
          <p:nvPr/>
        </p:nvSpPr>
        <p:spPr>
          <a:xfrm>
            <a:off x="7662242" y="8248664"/>
            <a:ext cx="115420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endParaRPr lang="en-US" sz="2400" dirty="0">
              <a:solidFill>
                <a:schemeClr val="bg1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Leaflet.js: Lightweight, open-source mapping without requiring API keys.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HTML5 Geolocation API: Native browser support to easily capture accurate 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coordinates.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13" b="-931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730032" y="376633"/>
            <a:ext cx="7004000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sz="5000" b="1" spc="-40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IMPLEMENTATION  PLAN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16274" y="3271934"/>
            <a:ext cx="5418088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Step-by-step development plan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16199" y="5181945"/>
            <a:ext cx="532045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Modules or features to be built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16199" y="7091955"/>
            <a:ext cx="4499698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Timeline (if applicable)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28700" y="2466675"/>
            <a:ext cx="16230600" cy="149974"/>
            <a:chOff x="0" y="0"/>
            <a:chExt cx="4052983" cy="374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52983" cy="37450"/>
            </a:xfrm>
            <a:custGeom>
              <a:avLst/>
              <a:gdLst/>
              <a:ahLst/>
              <a:cxnLst/>
              <a:rect l="l" t="t" r="r" b="b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1">
              <a:gsLst>
                <a:gs pos="0">
                  <a:srgbClr val="FFC4E1">
                    <a:alpha val="0"/>
                  </a:srgbClr>
                </a:gs>
                <a:gs pos="25000">
                  <a:srgbClr val="C4FBFF">
                    <a:alpha val="100000"/>
                  </a:srgbClr>
                </a:gs>
                <a:gs pos="50000">
                  <a:srgbClr val="DAFCFF">
                    <a:alpha val="100000"/>
                  </a:srgbClr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052983" cy="75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633296" y="575308"/>
            <a:ext cx="2131575" cy="1004833"/>
          </a:xfrm>
          <a:custGeom>
            <a:avLst/>
            <a:gdLst/>
            <a:ahLst/>
            <a:cxnLst/>
            <a:rect l="l" t="t" r="r" b="b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5978666" y="-269126"/>
            <a:ext cx="2475692" cy="2475692"/>
          </a:xfrm>
          <a:custGeom>
            <a:avLst/>
            <a:gdLst/>
            <a:ahLst/>
            <a:cxnLst/>
            <a:rect l="l" t="t" r="r" b="b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2C5728-DE32-7B37-750C-DB368575A9FC}"/>
              </a:ext>
            </a:extLst>
          </p:cNvPr>
          <p:cNvSpPr txBox="1"/>
          <p:nvPr/>
        </p:nvSpPr>
        <p:spPr>
          <a:xfrm>
            <a:off x="6434362" y="3361087"/>
            <a:ext cx="92282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AutoNum type="arabicParenR"/>
            </a:pPr>
            <a:r>
              <a:rPr lang="en-US" sz="2400" dirty="0">
                <a:solidFill>
                  <a:schemeClr val="bg1"/>
                </a:solidFill>
              </a:rPr>
              <a:t>Scaffold UI and initialize Map. </a:t>
            </a:r>
          </a:p>
          <a:p>
            <a:pPr marL="514350" indent="-514350">
              <a:buAutoNum type="arabicParenR"/>
            </a:pPr>
            <a:r>
              <a:rPr lang="en-US" sz="2400" dirty="0">
                <a:solidFill>
                  <a:schemeClr val="bg1"/>
                </a:solidFill>
              </a:rPr>
              <a:t>Build photo upload and GPS capture logic. </a:t>
            </a:r>
          </a:p>
          <a:p>
            <a:pPr marL="514350" indent="-514350">
              <a:buAutoNum type="arabicParenR"/>
            </a:pPr>
            <a:r>
              <a:rPr lang="en-US" sz="2400" dirty="0">
                <a:solidFill>
                  <a:schemeClr val="bg1"/>
                </a:solidFill>
              </a:rPr>
              <a:t>Connect to Firebase. </a:t>
            </a:r>
          </a:p>
          <a:p>
            <a:pPr marL="514350" indent="-514350">
              <a:buAutoNum type="arabicParenR"/>
            </a:pPr>
            <a:r>
              <a:rPr lang="en-US" sz="2400" dirty="0">
                <a:solidFill>
                  <a:schemeClr val="bg1"/>
                </a:solidFill>
              </a:rPr>
              <a:t>Render dynamic pins on the map.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0AFAE5-A889-7EAC-1129-F40F501F14D6}"/>
              </a:ext>
            </a:extLst>
          </p:cNvPr>
          <p:cNvSpPr txBox="1"/>
          <p:nvPr/>
        </p:nvSpPr>
        <p:spPr>
          <a:xfrm>
            <a:off x="6434362" y="5248851"/>
            <a:ext cx="9228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Interactive Map View, Sighting Submission Form, Gamification/Badge Engine.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B1FAF9-8630-A5E5-C83E-D6AAE5462A89}"/>
              </a:ext>
            </a:extLst>
          </p:cNvPr>
          <p:cNvSpPr txBox="1"/>
          <p:nvPr/>
        </p:nvSpPr>
        <p:spPr>
          <a:xfrm>
            <a:off x="6434362" y="6783454"/>
            <a:ext cx="92282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endParaRPr lang="en-IN" sz="2800" dirty="0">
              <a:solidFill>
                <a:schemeClr val="bg1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2800" dirty="0">
                <a:solidFill>
                  <a:schemeClr val="bg1"/>
                </a:solidFill>
              </a:rPr>
              <a:t>9:30 AM - 12:30 PM: Core React UI &amp; Map setup.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2800" dirty="0">
                <a:solidFill>
                  <a:schemeClr val="bg1"/>
                </a:solidFill>
              </a:rPr>
              <a:t>12:30 PM - 3:30 PM: Form logic &amp; Geolocation API.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2800" dirty="0">
                <a:solidFill>
                  <a:schemeClr val="bg1"/>
                </a:solidFill>
              </a:rPr>
              <a:t>3:30 PM - 5:30 PM: Styling and Testing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13" b="-931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896553" y="377591"/>
            <a:ext cx="8827740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sz="5000" b="1" spc="-40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EXPECTED OUTCOME  / IMPACT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1378" y="3081217"/>
            <a:ext cx="5259586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Expected results of the project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1778" y="5057775"/>
            <a:ext cx="3753964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Benefits to users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01302" y="7038340"/>
            <a:ext cx="3744439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Real-world impact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674728" y="2269929"/>
            <a:ext cx="16230600" cy="149974"/>
            <a:chOff x="0" y="0"/>
            <a:chExt cx="4052983" cy="374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52983" cy="37450"/>
            </a:xfrm>
            <a:custGeom>
              <a:avLst/>
              <a:gdLst/>
              <a:ahLst/>
              <a:cxnLst/>
              <a:rect l="l" t="t" r="r" b="b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1">
              <a:gsLst>
                <a:gs pos="0">
                  <a:srgbClr val="FFC4E1">
                    <a:alpha val="0"/>
                  </a:srgbClr>
                </a:gs>
                <a:gs pos="25000">
                  <a:srgbClr val="C4FBFF">
                    <a:alpha val="100000"/>
                  </a:srgbClr>
                </a:gs>
                <a:gs pos="50000">
                  <a:srgbClr val="DAFCFF">
                    <a:alpha val="100000"/>
                  </a:srgbClr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052983" cy="75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633296" y="575308"/>
            <a:ext cx="2131575" cy="1004833"/>
          </a:xfrm>
          <a:custGeom>
            <a:avLst/>
            <a:gdLst/>
            <a:ahLst/>
            <a:cxnLst/>
            <a:rect l="l" t="t" r="r" b="b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5978666" y="-269126"/>
            <a:ext cx="2475692" cy="2475692"/>
          </a:xfrm>
          <a:custGeom>
            <a:avLst/>
            <a:gdLst/>
            <a:ahLst/>
            <a:cxnLst/>
            <a:rect l="l" t="t" r="r" b="b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FCC9DB-23A5-A700-60A6-2BA374E4E415}"/>
              </a:ext>
            </a:extLst>
          </p:cNvPr>
          <p:cNvSpPr txBox="1"/>
          <p:nvPr/>
        </p:nvSpPr>
        <p:spPr>
          <a:xfrm>
            <a:off x="5481937" y="3092914"/>
            <a:ext cx="92282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A functional prototype featuring an interactive map populated with wildlife pins and a working submission form capturing real location data.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6BC1B1-FFF1-8DCF-5442-113D293820F3}"/>
              </a:ext>
            </a:extLst>
          </p:cNvPr>
          <p:cNvSpPr txBox="1"/>
          <p:nvPr/>
        </p:nvSpPr>
        <p:spPr>
          <a:xfrm>
            <a:off x="5481937" y="5104754"/>
            <a:ext cx="9228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Citizens get a fun, engaging way to interact with nature, learn about local species, and earn digital rewards.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D0834D-B493-D93A-DF71-1EF43D8C8B51}"/>
              </a:ext>
            </a:extLst>
          </p:cNvPr>
          <p:cNvSpPr txBox="1"/>
          <p:nvPr/>
        </p:nvSpPr>
        <p:spPr>
          <a:xfrm>
            <a:off x="5481937" y="7125095"/>
            <a:ext cx="1128697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Creates a valuable, crowdsourced dataset of urban biodiversity that can be exported for environmental research and local conservation planning.</a:t>
            </a:r>
            <a:endParaRPr lang="en-IN" sz="2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9313" b="-931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503647" y="331023"/>
            <a:ext cx="9836646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sz="5000" b="1" spc="-40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FUTURE  SCOPE  AND  CONCLUSION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1378" y="3173674"/>
            <a:ext cx="4585022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Future improvements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1302" y="6909834"/>
            <a:ext cx="4732581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Scalability of the project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01303" y="5041754"/>
            <a:ext cx="3602344" cy="563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6" lvl="1" indent="-367028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 b="1" spc="-27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Final summary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136043" y="1423973"/>
            <a:ext cx="16230600" cy="149974"/>
            <a:chOff x="0" y="0"/>
            <a:chExt cx="4052983" cy="374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52983" cy="37450"/>
            </a:xfrm>
            <a:custGeom>
              <a:avLst/>
              <a:gdLst/>
              <a:ahLst/>
              <a:cxnLst/>
              <a:rect l="l" t="t" r="r" b="b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1">
              <a:gsLst>
                <a:gs pos="0">
                  <a:srgbClr val="FFC4E1">
                    <a:alpha val="0"/>
                  </a:srgbClr>
                </a:gs>
                <a:gs pos="25000">
                  <a:srgbClr val="C4FBFF">
                    <a:alpha val="100000"/>
                  </a:srgbClr>
                </a:gs>
                <a:gs pos="50000">
                  <a:srgbClr val="DAFCFF">
                    <a:alpha val="100000"/>
                  </a:srgbClr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052983" cy="75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633296" y="575308"/>
            <a:ext cx="2131575" cy="1004833"/>
          </a:xfrm>
          <a:custGeom>
            <a:avLst/>
            <a:gdLst/>
            <a:ahLst/>
            <a:cxnLst/>
            <a:rect l="l" t="t" r="r" b="b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5978666" y="-269126"/>
            <a:ext cx="2475692" cy="2475692"/>
          </a:xfrm>
          <a:custGeom>
            <a:avLst/>
            <a:gdLst/>
            <a:ahLst/>
            <a:cxnLst/>
            <a:rect l="l" t="t" r="r" b="b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F68236-BA60-30EB-8C14-3D79F8DF32D9}"/>
              </a:ext>
            </a:extLst>
          </p:cNvPr>
          <p:cNvSpPr txBox="1"/>
          <p:nvPr/>
        </p:nvSpPr>
        <p:spPr>
          <a:xfrm>
            <a:off x="6017228" y="3260429"/>
            <a:ext cx="9228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Integrating an AI Vision model to automatically identify the animal in the uploaded photo, reducing user entry error.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F3D5A3-3E37-2226-CB2C-E74AB6E182C7}"/>
              </a:ext>
            </a:extLst>
          </p:cNvPr>
          <p:cNvSpPr txBox="1"/>
          <p:nvPr/>
        </p:nvSpPr>
        <p:spPr>
          <a:xfrm>
            <a:off x="6017228" y="5097060"/>
            <a:ext cx="109286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Expanding to a nationwide platform with regional leaderboards and partnerships with schools for environmental education.</a:t>
            </a: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F6B2DB-1971-4B3C-51B5-ADDB3FA83199}"/>
              </a:ext>
            </a:extLst>
          </p:cNvPr>
          <p:cNvSpPr txBox="1"/>
          <p:nvPr/>
        </p:nvSpPr>
        <p:spPr>
          <a:xfrm>
            <a:off x="6017228" y="6932171"/>
            <a:ext cx="1206429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solidFill>
                  <a:schemeClr val="bg1"/>
                </a:solidFill>
              </a:rPr>
              <a:t>BioDex</a:t>
            </a:r>
            <a:r>
              <a:rPr lang="en-US" sz="2800" dirty="0">
                <a:solidFill>
                  <a:schemeClr val="bg1"/>
                </a:solidFill>
              </a:rPr>
              <a:t> proves that by combining accessible mapping tech with gamified user experiences, we can solve the urban biodiversity data shortage one photo at a time.</a:t>
            </a:r>
            <a:endParaRPr lang="en-IN" sz="2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776</Words>
  <Application>Microsoft Office PowerPoint</Application>
  <PresentationFormat>Custom</PresentationFormat>
  <Paragraphs>86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Times New Roman</vt:lpstr>
      <vt:lpstr>Times New Roman 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PRATEEK DAS</dc:creator>
  <cp:lastModifiedBy>Prateek Das</cp:lastModifiedBy>
  <cp:revision>2</cp:revision>
  <dcterms:modified xsi:type="dcterms:W3CDTF">2026-04-02T15:32:39Z</dcterms:modified>
</cp:coreProperties>
</file>